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011680" cy="2011680"/>
          </a:xfrm>
          <a:prstGeom prst="ellipse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 |  ICT-2201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System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In-Depth Academic Presentation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8046720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91840"/>
            <a:ext cx="3840480" cy="141732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36499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36118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Iffat Mokarrama Mim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IT-24035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ICT, MBSTU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291840"/>
            <a:ext cx="3840480" cy="1417320"/>
          </a:xfrm>
          <a:prstGeom prst="rect">
            <a:avLst/>
          </a:prstGeom>
          <a:solidFill>
            <a:srgbClr val="1C2333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36499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92040" y="36118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Nazrul Islam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ICT, MBSTU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Mawlana Bhashani Science and Technology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14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93268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Linux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41148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173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4356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Evolution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41148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202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193852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Architecture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41148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231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4414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4114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260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29443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Structure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41148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290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44728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Distributions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41148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319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07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9502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&amp; Command Line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434840"/>
            <a:ext cx="41148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4348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08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445312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Permission Management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914400"/>
            <a:ext cx="4114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9144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09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93268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1417320"/>
            <a:ext cx="41148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4173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10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143560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in Linux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1920240"/>
            <a:ext cx="41148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9202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11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193852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Management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2423160"/>
            <a:ext cx="41148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4231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12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57800" y="244144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vs Other OS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54880" y="2926080"/>
            <a:ext cx="4114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9260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13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7800" y="294436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in Industry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54880" y="3429000"/>
            <a:ext cx="41148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4290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14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57800" y="344728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54880" y="3931920"/>
            <a:ext cx="41148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39319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15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57800" y="395020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References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Linux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228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"Linux is a free and open-source Unix-like operating system kernel first released by Linus Torvalds in 1991."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2743200" cy="228600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514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🐧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45643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freely available for anyone to view, modify &amp; distribute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423160"/>
            <a:ext cx="2743200" cy="228600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514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345643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servers, desktops, mobile devices, and embedded systems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423160"/>
            <a:ext cx="2743200" cy="228600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514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Stable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45643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for robustness, security, and long uptime in 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Evolution of Linux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868680" cy="4114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1969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941832"/>
            <a:ext cx="164592" cy="16459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841248"/>
            <a:ext cx="7315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created at AT&amp;T Bell Labs by Ken Thompson &amp; Dennis Ritchie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1490472"/>
            <a:ext cx="86868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90472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1983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98448" y="1609344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1508760"/>
            <a:ext cx="7315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Project launched by Richard Stallman to create free Unix-like 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157984"/>
            <a:ext cx="8686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57984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1991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98448" y="227685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176272"/>
            <a:ext cx="7315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Linus Torvalds releases Linux kernel v0.01 as a hobby project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2825496"/>
            <a:ext cx="86868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2549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1994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298448" y="2944368"/>
            <a:ext cx="164592" cy="16459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2843784"/>
            <a:ext cx="7315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v1.0 released — first stable production-ready kernel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3493008"/>
            <a:ext cx="868680" cy="4114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9300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2000s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98448" y="3611880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4480" y="3511296"/>
            <a:ext cx="7315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adoption by enterprises; Red Hat, Ubuntu, SUSE emerge as distros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5760" y="4160520"/>
            <a:ext cx="86868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1605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Today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98448" y="4279392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54480" y="4178808"/>
            <a:ext cx="7315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97% of world's top 500 supercomputers, Android, and cloud servers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371600" y="868680"/>
            <a:ext cx="0" cy="384048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228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42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Applications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075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browser, editors, terminals, media players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1600200"/>
            <a:ext cx="0" cy="1828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282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Libraries (glibc)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19933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printf(), open(), malloc() — bridges apps to kernel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2286000"/>
            <a:ext cx="0" cy="1828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77440"/>
            <a:ext cx="8229600" cy="594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140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 Interface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6791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read(), write(), fork(), exec() — entry point to kernel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2971800"/>
            <a:ext cx="0" cy="1828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63240"/>
            <a:ext cx="8229600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998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3649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Process, Memory, File System, Network, Device Mgmt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3657600"/>
            <a:ext cx="0" cy="1828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49040"/>
            <a:ext cx="8229600" cy="594360"/>
          </a:xfrm>
          <a:prstGeom prst="rect">
            <a:avLst/>
          </a:prstGeom>
          <a:solidFill>
            <a:srgbClr val="6B7280">
              <a:alpha val="40000"/>
            </a:srgbClr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85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050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 |  RAM  |  Storage  |  Network  |  I/O Devices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Linux Kernel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is the core of the operating system — the bridge between software and hardware.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17320"/>
            <a:ext cx="27432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117"/>
                </a:solidFill>
              </a:rPr>
              <a:t>Process Management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1819656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multitasking, context switching, fork/exec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17320"/>
            <a:ext cx="27432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117"/>
                </a:solidFill>
              </a:rPr>
              <a:t>Memory Management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1819656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memory, paging, swap space, memory protection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17320"/>
            <a:ext cx="274320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117"/>
                </a:solidFill>
              </a:rPr>
              <a:t>File System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09360" y="1819656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VFS layer, ext4, Btrfs, NFS, procfs, sysfs support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63240"/>
            <a:ext cx="274320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63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117"/>
                </a:solidFill>
              </a:rPr>
              <a:t>Device Drivers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3465576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for hardware — network, storage, USB, GPU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306324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3063240"/>
            <a:ext cx="2743200" cy="3474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063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117"/>
                </a:solidFill>
              </a:rPr>
              <a:t>Networking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83280" y="3465576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stack, sockets, firewalls (netfilter/iptables)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06324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3063240"/>
            <a:ext cx="27432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063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117"/>
                </a:solidFill>
              </a:rPr>
              <a:t>IPC Mechanisms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09360" y="3465576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Pipes, signals, semaphores, shared memory, message queues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System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228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uses a hierarchical tree-based file system starting from / (root)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31920" y="1417320"/>
            <a:ext cx="12801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/ (root)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874520"/>
            <a:ext cx="-3840480" cy="502920"/>
          </a:xfrm>
          <a:prstGeom prst="line">
            <a:avLst/>
          </a:prstGeom>
          <a:noFill/>
          <a:ln w="12700">
            <a:solidFill>
              <a:srgbClr val="00B4D8">
                <a:alpha val="60000"/>
              </a:srgbClr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82880" y="2377440"/>
            <a:ext cx="118872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117"/>
                </a:solidFill>
              </a:rPr>
              <a:t>/bin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7160" y="2880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user binaries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874520"/>
            <a:ext cx="-2560320" cy="502920"/>
          </a:xfrm>
          <a:prstGeom prst="line">
            <a:avLst/>
          </a:prstGeom>
          <a:noFill/>
          <a:ln w="12700">
            <a:solidFill>
              <a:srgbClr val="00B4D8">
                <a:alpha val="60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463040" y="2377440"/>
            <a:ext cx="118872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117"/>
                </a:solidFill>
              </a:rPr>
              <a:t>/etc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417320" y="2880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files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874520"/>
            <a:ext cx="-1280160" cy="502920"/>
          </a:xfrm>
          <a:prstGeom prst="line">
            <a:avLst/>
          </a:prstGeom>
          <a:noFill/>
          <a:ln w="12700">
            <a:solidFill>
              <a:srgbClr val="00B4D8">
                <a:alpha val="60000"/>
              </a:srgbClr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743200" y="2377440"/>
            <a:ext cx="118872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117"/>
                </a:solidFill>
              </a:rPr>
              <a:t>/home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97480" y="2880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home directories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874520"/>
            <a:ext cx="0" cy="502920"/>
          </a:xfrm>
          <a:prstGeom prst="line">
            <a:avLst/>
          </a:prstGeom>
          <a:noFill/>
          <a:ln w="12700">
            <a:solidFill>
              <a:srgbClr val="00B4D8">
                <a:alpha val="60000"/>
              </a:srgbClr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023360" y="2377440"/>
            <a:ext cx="11887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117"/>
                </a:solidFill>
              </a:rPr>
              <a:t>/var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77640" y="2880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data (logs)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1874520"/>
            <a:ext cx="1280160" cy="502920"/>
          </a:xfrm>
          <a:prstGeom prst="line">
            <a:avLst/>
          </a:prstGeom>
          <a:noFill/>
          <a:ln w="12700">
            <a:solidFill>
              <a:srgbClr val="00B4D8">
                <a:alpha val="60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303520" y="2377440"/>
            <a:ext cx="118872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117"/>
                </a:solidFill>
              </a:rPr>
              <a:t>/usr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57800" y="2880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programs &amp; data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1874520"/>
            <a:ext cx="2560320" cy="502920"/>
          </a:xfrm>
          <a:prstGeom prst="line">
            <a:avLst/>
          </a:prstGeom>
          <a:noFill/>
          <a:ln w="12700">
            <a:solidFill>
              <a:srgbClr val="00B4D8">
                <a:alpha val="60000"/>
              </a:srgbClr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583680" y="2377440"/>
            <a:ext cx="118872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117"/>
                </a:solidFill>
              </a:rPr>
              <a:t>/dev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37960" y="2880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files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1874520"/>
            <a:ext cx="3840480" cy="502920"/>
          </a:xfrm>
          <a:prstGeom prst="line">
            <a:avLst/>
          </a:prstGeom>
          <a:noFill/>
          <a:ln w="12700">
            <a:solidFill>
              <a:srgbClr val="00B4D8">
                <a:alpha val="60000"/>
              </a:srgbClr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863840" y="2377440"/>
            <a:ext cx="118872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117"/>
                </a:solidFill>
              </a:rPr>
              <a:t>/tmp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818120" y="2880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files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188720" y="3977640"/>
            <a:ext cx="109728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88720" y="39776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88720" y="41788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process info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00400" y="3977640"/>
            <a:ext cx="109728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39776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/lib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00400" y="41788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libraries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212080" y="3977640"/>
            <a:ext cx="109728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12080" y="39776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/boot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12080" y="41788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loader files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223760" y="3977640"/>
            <a:ext cx="109728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0" y="39776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/mnt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223760" y="41788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points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Distributions (Distros)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Linux distribution packages the kernel with software, tools, and a package manager.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7432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4813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Ubuntu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Debian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2128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Desktop &amp; Server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7432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4813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Debian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Independent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2128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Stability-focused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371600"/>
            <a:ext cx="27432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14813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Fedora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Red Hat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22128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Cutting-edge features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063240"/>
            <a:ext cx="27432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172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 Arch Linux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148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Independent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9044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Power users / DIY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3063240"/>
            <a:ext cx="27432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37560" y="3172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CentOS / RHEL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33756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Red Hat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39044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Enterprise servers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3063240"/>
            <a:ext cx="27432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63640" y="3172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Kali Linux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6364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Debian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39044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Security &amp; Pen-testing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&amp; Command Line Interface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228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is a command-line interpreter that executes user commands.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029200" cy="3474720"/>
          </a:xfrm>
          <a:prstGeom prst="rect">
            <a:avLst/>
          </a:prstGeom>
          <a:solidFill>
            <a:srgbClr val="0A0E1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71600"/>
            <a:ext cx="5029200" cy="32004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898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bash — user@linux:~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-la /home/user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07568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48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drwxr-xr-x  2 user user 4096 Jan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71576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pwd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03580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/home/user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35584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-r 'linux' /etc/os-release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67588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NAME="Ubuntu"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99592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 update &amp;&amp; apt upgrade -y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31596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Hit:1 http://archive.ubuntu.com ...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Commands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0" y="1783080"/>
            <a:ext cx="640080" cy="301752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178308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0" y="1801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directory contents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0" y="2185416"/>
            <a:ext cx="640080" cy="301752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2185416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0" y="22037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directory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0" y="2587752"/>
            <a:ext cx="640080" cy="301752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2587752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text patterns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0" y="2990088"/>
            <a:ext cx="640080" cy="301752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299008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0" y="30083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file permissions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0" y="3392424"/>
            <a:ext cx="640080" cy="301752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3392424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0" y="34107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running processes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0" y="3794760"/>
            <a:ext cx="640080" cy="301752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379476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00800" y="38130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 monitor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0" y="4197096"/>
            <a:ext cx="640080" cy="301752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4197096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0800" y="42153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remote login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0" y="4599432"/>
            <a:ext cx="640080" cy="301752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4599432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00800" y="4617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files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Permission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is a multi-user system with a robust permission model to control access to files and resources.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5120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17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String Breakdown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500" kern="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 rwx  rwx  rwx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9144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231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Type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08760" y="245059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= file, d = dir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935224"/>
            <a:ext cx="9144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3522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Owner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296265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rwx = read/write/exec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447288"/>
            <a:ext cx="91440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472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Group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08760" y="347472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rwx = group permissions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959352"/>
            <a:ext cx="91440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593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Others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08760" y="398678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rwx = all other users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Commands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60720" y="1737360"/>
            <a:ext cx="868680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17373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useradd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93408" y="17556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user account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0" y="2176272"/>
            <a:ext cx="868680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1762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3408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user password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60720" y="2615184"/>
            <a:ext cx="868680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261518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usermod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93408" y="26334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user account settings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60720" y="3054096"/>
            <a:ext cx="868680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305409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93408" y="30723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file permissions (e.g. chmod 755)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60720" y="3493008"/>
            <a:ext cx="868680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349300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93408" y="351129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file owner and group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60720" y="3931920"/>
            <a:ext cx="868680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0" y="39319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93408" y="39502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command as superuser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60720" y="4370832"/>
            <a:ext cx="868680" cy="310896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43708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93408" y="4389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groups a user belongs to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228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is a program in execution. Linux manages thousands of processes simultaneously.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37160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New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1371600"/>
            <a:ext cx="1371600" cy="5486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Ready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1828800"/>
            <a:ext cx="1371600" cy="5486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Running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3017520"/>
            <a:ext cx="1371600" cy="5486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3017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Waiting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828800"/>
            <a:ext cx="1371600" cy="54864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Terminated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20240" y="2103120"/>
            <a:ext cx="365760" cy="-45720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1645920"/>
            <a:ext cx="457200" cy="365760"/>
          </a:xfrm>
          <a:prstGeom prst="line">
            <a:avLst/>
          </a:prstGeom>
          <a:noFill/>
          <a:ln w="19050">
            <a:solidFill>
              <a:srgbClr val="06D6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2103120"/>
            <a:ext cx="9144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377440"/>
            <a:ext cx="0" cy="640080"/>
          </a:xfrm>
          <a:prstGeom prst="line">
            <a:avLst/>
          </a:prstGeom>
          <a:noFill/>
          <a:ln w="19050">
            <a:solidFill>
              <a:srgbClr val="FFD166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6576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Commands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160520"/>
            <a:ext cx="2651760" cy="64008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06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running processes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4160520"/>
            <a:ext cx="2651760" cy="64008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4206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/ htop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44805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process viewer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4160520"/>
            <a:ext cx="2651760" cy="64008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4206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PID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44805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 process by ID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in Linux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provides a comprehensive networking stack from basic connectivity to advanced routing and firewalling.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7432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27432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Network Configuration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755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ifconfig / ip addr — view/set IP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48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nmcli — NetworkManager CLI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5420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/etc/network/interfaces config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371600"/>
            <a:ext cx="27432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371600"/>
            <a:ext cx="274320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Connectivity Tools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1755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— test reachability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148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traceroute — trace packet path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5420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nslookup / dig — DNS lookup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1371600"/>
            <a:ext cx="27432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371600"/>
            <a:ext cx="27432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File Transfer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1755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— secure copy over SSH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2148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rsync — efficient sync/transfer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25420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wget / curl — HTTP downloads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200400"/>
            <a:ext cx="27432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200400"/>
            <a:ext cx="274320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200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Firewall (iptables)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35844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iptables -A INPUT — add rule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3977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— uncomplicated firewall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370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firewalld — zone-based firewall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3200400"/>
            <a:ext cx="27432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3200400"/>
            <a:ext cx="2743200" cy="3474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3200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Remote Access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37560" y="35844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user@host — remote login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37560" y="3977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— secure file transfer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37560" y="4370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VPN: OpenVPN, WireGuard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72200" y="3200400"/>
            <a:ext cx="27432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72200" y="3200400"/>
            <a:ext cx="27432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3200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Monitoring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63640" y="35844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netstat / ss — open ports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640" y="3977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— packet capture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63640" y="4370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— network scanner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228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managers automate software installation, upgrades, and dependency resolution.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743200" cy="3474720"/>
          </a:xfrm>
          <a:prstGeom prst="rect">
            <a:avLst/>
          </a:prstGeom>
          <a:solidFill>
            <a:srgbClr val="1C2333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17320"/>
            <a:ext cx="274320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APT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Debian, Ubuntu, Mint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256032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414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 install &lt;pkg&gt;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53512"/>
            <a:ext cx="256032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 remove &lt;pkg&gt;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83864"/>
            <a:ext cx="256032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021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 update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14216"/>
            <a:ext cx="256032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325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 upgrade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1417320"/>
            <a:ext cx="2743200" cy="3474720"/>
          </a:xfrm>
          <a:prstGeom prst="rect">
            <a:avLst/>
          </a:prstGeom>
          <a:solidFill>
            <a:srgbClr val="1C2333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1417320"/>
            <a:ext cx="27432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YUM / DNF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383280" y="1993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RHEL, Fedora, CentOS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83280" y="2423160"/>
            <a:ext cx="256032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24414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dnf install &lt;pkg&gt;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2953512"/>
            <a:ext cx="256032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dnf remove &lt;pkg&gt;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3483864"/>
            <a:ext cx="256032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35021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dnf update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4014216"/>
            <a:ext cx="256032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40325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dnf search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1417320"/>
            <a:ext cx="2743200" cy="3474720"/>
          </a:xfrm>
          <a:prstGeom prst="rect">
            <a:avLst/>
          </a:prstGeom>
          <a:solidFill>
            <a:srgbClr val="1C2333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1417320"/>
            <a:ext cx="2743200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</a:rPr>
              <a:t>Pacman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309360" y="1993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Linux, Manjaro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09360" y="2423160"/>
            <a:ext cx="256032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06D6A0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24414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pacman -S &lt;pkg&gt;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2953512"/>
            <a:ext cx="256032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06D6A0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pacman -R &lt;pkg&gt;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09360" y="3483864"/>
            <a:ext cx="256032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06D6A0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35021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pacman -Syu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09360" y="4014216"/>
            <a:ext cx="2560320" cy="402336"/>
          </a:xfrm>
          <a:prstGeom prst="rect">
            <a:avLst/>
          </a:prstGeom>
          <a:solidFill>
            <a:srgbClr val="0D1117"/>
          </a:solidFill>
          <a:ln w="12700">
            <a:solidFill>
              <a:srgbClr val="06D6A0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40325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pacman -Ss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vs. Other Operating Systems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182880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777240"/>
            <a:ext cx="210312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777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Linux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777240"/>
            <a:ext cx="2286000" cy="41148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777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Windows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777240"/>
            <a:ext cx="2286000" cy="41148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777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macOS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1234440"/>
            <a:ext cx="1828800" cy="42062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12527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94560" y="1234440"/>
            <a:ext cx="2103120" cy="420624"/>
          </a:xfrm>
          <a:prstGeom prst="rect">
            <a:avLst/>
          </a:prstGeom>
          <a:solidFill>
            <a:srgbClr val="E6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9424" y="12527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 Source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1234440"/>
            <a:ext cx="2286000" cy="42062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98264" y="12527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License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1234440"/>
            <a:ext cx="2286000" cy="42062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9984" y="12527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(Apple HW only)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1691640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" y="17099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94560" y="1691640"/>
            <a:ext cx="2103120" cy="420624"/>
          </a:xfrm>
          <a:prstGeom prst="rect">
            <a:avLst/>
          </a:prstGeom>
          <a:solidFill>
            <a:srgbClr val="F0F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9424" y="17099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1691640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98264" y="17099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Source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75120" y="1691640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9984" y="17099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Open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2148840"/>
            <a:ext cx="1828800" cy="42062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" y="21671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94560" y="2148840"/>
            <a:ext cx="2103120" cy="420624"/>
          </a:xfrm>
          <a:prstGeom prst="rect">
            <a:avLst/>
          </a:prstGeom>
          <a:solidFill>
            <a:srgbClr val="E6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49424" y="21671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Customizable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43400" y="2148840"/>
            <a:ext cx="2286000" cy="42062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98264" y="21671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75120" y="2148840"/>
            <a:ext cx="2286000" cy="42062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9984" y="21671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2606040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" y="26243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94560" y="2606040"/>
            <a:ext cx="2103120" cy="420624"/>
          </a:xfrm>
          <a:prstGeom prst="rect">
            <a:avLst/>
          </a:prstGeom>
          <a:solidFill>
            <a:srgbClr val="F0F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49424" y="26243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343400" y="2606040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98264" y="26243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675120" y="2606040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9984" y="26243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3063240"/>
            <a:ext cx="1828800" cy="42062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4904" y="3081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194560" y="3063240"/>
            <a:ext cx="2103120" cy="420624"/>
          </a:xfrm>
          <a:prstGeom prst="rect">
            <a:avLst/>
          </a:prstGeom>
          <a:solidFill>
            <a:srgbClr val="E6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49424" y="30815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(servers)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343400" y="3063240"/>
            <a:ext cx="2286000" cy="42062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98264" y="30815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675120" y="3063240"/>
            <a:ext cx="2286000" cy="42062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29984" y="30815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0040" y="3520440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" y="35387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194560" y="3520440"/>
            <a:ext cx="2103120" cy="420624"/>
          </a:xfrm>
          <a:prstGeom prst="rect">
            <a:avLst/>
          </a:prstGeom>
          <a:solidFill>
            <a:srgbClr val="F0F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49424" y="35387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(many choices)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343400" y="3520440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98264" y="35387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675120" y="3520440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29984" y="35387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20040" y="3977640"/>
            <a:ext cx="1828800" cy="42062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4904" y="39959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Mgmt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194560" y="3977640"/>
            <a:ext cx="2103120" cy="420624"/>
          </a:xfrm>
          <a:prstGeom prst="rect">
            <a:avLst/>
          </a:prstGeom>
          <a:solidFill>
            <a:srgbClr val="E6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49424" y="39959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apt, dnf, pacman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343400" y="3977640"/>
            <a:ext cx="2286000" cy="42062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98264" y="39959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winget, MSI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675120" y="3977640"/>
            <a:ext cx="2286000" cy="42062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29984" y="39959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Homebrew, App Store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20040" y="4434840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74904" y="44531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194560" y="4434840"/>
            <a:ext cx="2103120" cy="420624"/>
          </a:xfrm>
          <a:prstGeom prst="rect">
            <a:avLst/>
          </a:prstGeom>
          <a:solidFill>
            <a:srgbClr val="F0F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249424" y="44531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~3% desktop, &gt;70% server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343400" y="4434840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98264" y="44531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 desktop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675120" y="4434840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729984" y="44531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desktop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in Industry &amp; Real World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228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powers the digital infrastructure of the modern world.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011680" cy="146304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500 Supercomputers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0" y="1417320"/>
            <a:ext cx="2011680" cy="1463040"/>
          </a:xfrm>
          <a:prstGeom prst="rect">
            <a:avLst/>
          </a:prstGeom>
          <a:solidFill>
            <a:srgbClr val="1C2333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5087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651760" y="2240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Servers Worldwide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2011680" cy="1463040"/>
          </a:xfrm>
          <a:prstGeom prst="rect">
            <a:avLst/>
          </a:prstGeom>
          <a:solidFill>
            <a:srgbClr val="1C2333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5087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846320" y="2240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Cloud Providers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49440" y="1417320"/>
            <a:ext cx="2011680" cy="1463040"/>
          </a:xfrm>
          <a:prstGeom prst="rect">
            <a:avLst/>
          </a:prstGeom>
          <a:solidFill>
            <a:srgbClr val="1C2333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5087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3B+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040880" y="2240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Devices (Linux Kernel)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017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 Cases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Cloud Computing — AWS EC2, Google Cloud, Azure all run on Linux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3429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&amp; Machine Learning — TensorFlow, PyTorch, CUDA run natively on Linux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3429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Scientific Research — CERN, NASA, and supercomputer clusters use Linux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069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Embedded Systems — Routers, smart TVs, IoT devices, Raspberry Pi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4069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Finance — Stock exchanges, banking systems, HFT platforms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 in Linux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38160" y="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is inherently more secure by design — separation of privileges, mandatory access controls, and active community patching.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206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15087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User Privilege Separation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9768" y="189280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vs regular users. sudo grants temporary elevated access, limiting blast radius of attacks.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206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5087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File Permissions (DAC)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64608" y="189280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Access Control via rwx bits ensures only authorized users access sensitive files.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651760"/>
            <a:ext cx="4206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9768" y="27432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SELinux / AppArmor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29768" y="312724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Access Control frameworks that confine programs to minimum required permissions.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651760"/>
            <a:ext cx="4206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64608" y="27432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iptables / nftables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64608" y="312724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Kernel-level packet filtering for firewalling, NAT, and intrusion prevention.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886200"/>
            <a:ext cx="4206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9768" y="39776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SSH Encryption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29768" y="436168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remote access via encrypted tunnels. Key-based authentication replaces passwords.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3886200"/>
            <a:ext cx="4206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64608" y="39776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System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64608" y="436168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auditd logs all security-relevant events. Helps detect unauthorized access attempts.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Disadvantages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228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view of Linux as an operating system choice.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11480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3931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open-source — zero licensing cost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249424"/>
            <a:ext cx="3931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stable and rarely needs rebooting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2670048"/>
            <a:ext cx="3931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security model and fast patching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090672"/>
            <a:ext cx="3931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old and diverse hardware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3511296"/>
            <a:ext cx="3931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software ecosystem (apt, pip, docker)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3931920"/>
            <a:ext cx="3931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community and documentation support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4352544"/>
            <a:ext cx="3931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customizability — kernel to desktop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1371600"/>
            <a:ext cx="411480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371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Disadvantages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1828800"/>
            <a:ext cx="3931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Steeper learning curve for beginners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0600" y="2249424"/>
            <a:ext cx="3931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support for some commercial software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2670048"/>
            <a:ext cx="3931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support improving but not yet on par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00600" y="3090672"/>
            <a:ext cx="3931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driver issues on newer devices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00600" y="3511296"/>
            <a:ext cx="3931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distros can be confusing for new users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0600" y="3931920"/>
            <a:ext cx="3931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standardization across distributions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4352544"/>
            <a:ext cx="3931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support varies by distribution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1115568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7315200" cy="402336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0136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🐧  Linux is a powerful, open-source OS kernel powering the modern internet and computing world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258568"/>
            <a:ext cx="7315200" cy="402336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27685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🐧  Its layered architecture enables security, stability, and unprecedented portability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734056"/>
            <a:ext cx="7315200" cy="402336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7523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🐧  Distributions democratize access to computing — free for everyone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209544"/>
            <a:ext cx="7315200" cy="402336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2783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🐧  Essential for careers in software engineering, DevOps, cybersecurity, and AI/ML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0965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Linux.org  |  kernel.org  |  Ubuntu Docs  |  TLDP.org  |  Red Hat Documentation  |  Tanenbaum, A.S. – Modern Operating Systems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ICT-2201 | Operating System | Dept. of ICT, MBSTU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- Operating System</dc:title>
  <dc:subject>PptxGenJS Presentation</dc:subject>
  <dc:creator>PptxGenJS</dc:creator>
  <cp:lastModifiedBy>PptxGenJS</cp:lastModifiedBy>
  <cp:revision>1</cp:revision>
  <dcterms:created xsi:type="dcterms:W3CDTF">2026-04-23T23:53:59Z</dcterms:created>
  <dcterms:modified xsi:type="dcterms:W3CDTF">2026-04-23T23:53:59Z</dcterms:modified>
</cp:coreProperties>
</file>